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046720" cy="10973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709160"/>
            <a:ext cx="8046720" cy="10973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1800" kern="0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2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Tienda de Moda con Certificación Blockchain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 de Fin de Grado  ·  DAW  ·  Curso 2024–2025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84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Miembro 1  &amp;  Miembro 2  ·  Tutor: Francisco Méndez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Aurea?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plataforma de moda con autenticidad garantizada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20624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</a:t>
            </a:r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una plataforma de e-commerce de ropa de moda que integra </a:t>
            </a:r>
            <a:pPr indent="0" marL="0">
              <a:buNone/>
            </a:pPr>
            <a:r>
              <a:rPr lang="en-US" sz="14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 blockchain</a:t>
            </a:r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emitir certificados de autenticidad digitales vinculados a cada prenda.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206240" cy="1920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aplicaciones interconectadas: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Tienda web pública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Panel de empleados (backoffice)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App móvil 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App móvil Android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23444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234440"/>
            <a:ext cx="182880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23444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95160" y="1234440"/>
            <a:ext cx="182880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+ Móvil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9516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278892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788920"/>
            <a:ext cx="182880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2788920"/>
            <a:ext cx="18288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2788920"/>
            <a:ext cx="182880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Node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951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Cuatro Aplicaciones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Ecosistema completo web y móvil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2011680" cy="7315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98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Tienda 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645920" cy="7315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057400"/>
            <a:ext cx="1792224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Catálogo con filtros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Carrito y pago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Certificado blockchain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Historial de pedidos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118872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1188720"/>
            <a:ext cx="2011680" cy="7315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298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Empleados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95728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Backoffice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78608" y="1965960"/>
            <a:ext cx="1645920" cy="7315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2057400"/>
            <a:ext cx="1792224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Gestión inventario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Seguimiento pedidos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Emisión certificados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Dashboard estadísticas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118872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188720"/>
            <a:ext cx="2011680" cy="7315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1298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iOS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8576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91456" y="1965960"/>
            <a:ext cx="1645920" cy="7315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057400"/>
            <a:ext cx="1792224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Catálogo móvil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Escáner QR blockchain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Notificaciones push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Perfil de usuario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21424" y="118872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21424" y="1188720"/>
            <a:ext cx="2011680" cy="7315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12984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Android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21424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04304" y="1965960"/>
            <a:ext cx="1645920" cy="7315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2057400"/>
            <a:ext cx="1792224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Catálogo móvil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Escáner QR blockchain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Notificaciones push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Google Play Store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seleccionadas para cada capa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solidFill>
            <a:srgbClr val="2C2418"/>
          </a:solidFill>
          <a:ln w="12700">
            <a:solidFill>
              <a:srgbClr val="2C24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Web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572768"/>
            <a:ext cx="26517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572768"/>
            <a:ext cx="26060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 tienda + backoffice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75688"/>
            <a:ext cx="8229600" cy="502920"/>
          </a:xfrm>
          <a:prstGeom prst="rect">
            <a:avLst/>
          </a:prstGeom>
          <a:solidFill>
            <a:srgbClr val="F2EBD9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75688"/>
            <a:ext cx="25146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Móvil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075688"/>
            <a:ext cx="26517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075688"/>
            <a:ext cx="26060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y Android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78608"/>
            <a:ext cx="25146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2578608"/>
            <a:ext cx="26517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578608"/>
            <a:ext cx="26060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 + JWT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81528"/>
            <a:ext cx="8229600" cy="502920"/>
          </a:xfrm>
          <a:prstGeom prst="rect">
            <a:avLst/>
          </a:prstGeom>
          <a:solidFill>
            <a:srgbClr val="F2EBD9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3081528"/>
            <a:ext cx="26517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/ PostgreSQL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081528"/>
            <a:ext cx="26060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Persistencia de datos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84448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84448"/>
            <a:ext cx="25146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584448"/>
            <a:ext cx="26517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Solidity + Ethereum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3584448"/>
            <a:ext cx="26060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Certificados en testnet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87368"/>
            <a:ext cx="8229600" cy="502920"/>
          </a:xfrm>
          <a:prstGeom prst="rect">
            <a:avLst/>
          </a:prstGeom>
          <a:solidFill>
            <a:srgbClr val="F2EBD9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87368"/>
            <a:ext cx="251460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Web3 Bridge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0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ethers.js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4087368"/>
            <a:ext cx="26060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↔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Diferencial: Blockchain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Autenticidad verificable para cada prenda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291840"/>
          </a:xfrm>
          <a:prstGeom prst="rect">
            <a:avLst/>
          </a:prstGeom>
          <a:solidFill>
            <a:srgbClr val="2E2A1E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Empleado emite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2057400" cy="7315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52928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backoffice genera un certificado y lo escribe en el smart contract de Ethereum (testnet).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06040" cy="3291840"/>
          </a:xfrm>
          <a:prstGeom prst="rect">
            <a:avLst/>
          </a:prstGeom>
          <a:solidFill>
            <a:srgbClr val="2E2A1E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260604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Prenda vinculada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2761488"/>
            <a:ext cx="2057400" cy="7315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852928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prenda tiene un token único e inmutable en la blockchain con su historial.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06040" cy="3291840"/>
          </a:xfrm>
          <a:prstGeom prst="rect">
            <a:avLst/>
          </a:prstGeom>
          <a:solidFill>
            <a:srgbClr val="2E2A1E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60604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08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verifica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2761488"/>
            <a:ext cx="2057400" cy="7315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852928"/>
            <a:ext cx="233172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tienda web y la app móvil muestran el certificado. El escáner QR lo confirma al instante.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Contract: AureaCert.sol  ·  Red: Ethereum Testnet  ·  Bridge: ethers.js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Móvil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y Android con React Native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Catálogo de productos con filtros adaptados a móvil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Carrito de compra y proceso de pago nativo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Escáner QR para verificar el certificado blockchain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Notificaciones push sobre el estado del pedido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Historial de compras y gestión del perfil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Disponible en App Store y Google Play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234440"/>
            <a:ext cx="3017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1234440"/>
            <a:ext cx="301752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3441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57784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3063240"/>
            <a:ext cx="3017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3063240"/>
            <a:ext cx="301752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172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57784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Play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4005072"/>
            <a:ext cx="3017520" cy="777240"/>
          </a:xfrm>
          <a:prstGeom prst="rect">
            <a:avLst/>
          </a:prstGeom>
          <a:solidFill>
            <a:srgbClr val="F2EBD9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40050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 — 15 Semanas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Entregas semanales con tags de Git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64592"/>
          </a:xfrm>
          <a:prstGeom prst="rect">
            <a:avLst/>
          </a:prstGeom>
          <a:solidFill>
            <a:srgbClr val="EDE0C4"/>
          </a:solidFill>
          <a:ln w="12700">
            <a:solidFill>
              <a:srgbClr val="EDE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86384" cy="164592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499616"/>
            <a:ext cx="164592" cy="164592"/>
          </a:xfrm>
          <a:prstGeom prst="oval">
            <a:avLst/>
          </a:prstGeom>
          <a:solidFill>
            <a:srgbClr val="6B6560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66420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" y="1664208"/>
            <a:ext cx="731520" cy="45720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71907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0160" y="1371600"/>
            <a:ext cx="786384" cy="164592"/>
          </a:xfrm>
          <a:prstGeom prst="rect">
            <a:avLst/>
          </a:prstGeom>
          <a:solidFill>
            <a:srgbClr val="7B6C3E"/>
          </a:solidFill>
          <a:ln w="12700">
            <a:solidFill>
              <a:srgbClr val="7B6C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9344" y="1499616"/>
            <a:ext cx="164592" cy="164592"/>
          </a:xfrm>
          <a:prstGeom prst="oval">
            <a:avLst/>
          </a:prstGeom>
          <a:solidFill>
            <a:srgbClr val="7B6C3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248716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16736" y="2487168"/>
            <a:ext cx="731520" cy="45720"/>
          </a:xfrm>
          <a:prstGeom prst="rect">
            <a:avLst/>
          </a:prstGeom>
          <a:solidFill>
            <a:srgbClr val="7B6C3E"/>
          </a:solidFill>
          <a:ln w="12700">
            <a:solidFill>
              <a:srgbClr val="7B6C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16736" y="254203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16736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S1–S2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3120" y="1371600"/>
            <a:ext cx="786384" cy="164592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2304" y="1499616"/>
            <a:ext cx="164592" cy="164592"/>
          </a:xfrm>
          <a:prstGeom prst="oval">
            <a:avLst/>
          </a:prstGeom>
          <a:solidFill>
            <a:srgbClr val="8A6F2A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9696" y="166420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39696" y="1664208"/>
            <a:ext cx="731520" cy="45720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171907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Web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39696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S3–S4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26080" y="1371600"/>
            <a:ext cx="786384" cy="164592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5264" y="1499616"/>
            <a:ext cx="164592" cy="164592"/>
          </a:xfrm>
          <a:prstGeom prst="oval">
            <a:avLst/>
          </a:prstGeom>
          <a:solidFill>
            <a:srgbClr val="B8973A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62656" y="248716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62656" y="2487168"/>
            <a:ext cx="731520" cy="4572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62656" y="254203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Backoffice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62656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S5–S6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49040" y="1371600"/>
            <a:ext cx="786384" cy="164592"/>
          </a:xfrm>
          <a:prstGeom prst="rect">
            <a:avLst/>
          </a:prstGeom>
          <a:solidFill>
            <a:srgbClr val="D4AF55"/>
          </a:solidFill>
          <a:ln w="12700">
            <a:solidFill>
              <a:srgbClr val="D4AF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78224" y="1499616"/>
            <a:ext cx="164592" cy="164592"/>
          </a:xfrm>
          <a:prstGeom prst="oval">
            <a:avLst/>
          </a:prstGeom>
          <a:solidFill>
            <a:srgbClr val="D4AF55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85616" y="166420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85616" y="1664208"/>
            <a:ext cx="731520" cy="45720"/>
          </a:xfrm>
          <a:prstGeom prst="rect">
            <a:avLst/>
          </a:prstGeom>
          <a:solidFill>
            <a:srgbClr val="D4AF55"/>
          </a:solidFill>
          <a:ln w="12700">
            <a:solidFill>
              <a:srgbClr val="D4AF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171907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85616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S7–S8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1371600"/>
            <a:ext cx="786384" cy="164592"/>
          </a:xfrm>
          <a:prstGeom prst="rect">
            <a:avLst/>
          </a:prstGeom>
          <a:solidFill>
            <a:srgbClr val="A0845C"/>
          </a:solidFill>
          <a:ln w="12700">
            <a:solidFill>
              <a:srgbClr val="A084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01184" y="1499616"/>
            <a:ext cx="164592" cy="164592"/>
          </a:xfrm>
          <a:prstGeom prst="oval">
            <a:avLst/>
          </a:prstGeom>
          <a:solidFill>
            <a:srgbClr val="A0845C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8576" y="248716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08576" y="2487168"/>
            <a:ext cx="731520" cy="45720"/>
          </a:xfrm>
          <a:prstGeom prst="rect">
            <a:avLst/>
          </a:prstGeom>
          <a:solidFill>
            <a:srgbClr val="A0845C"/>
          </a:solidFill>
          <a:ln w="12700">
            <a:solidFill>
              <a:srgbClr val="A084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54203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Móvil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08576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S9–S10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94960" y="1371600"/>
            <a:ext cx="786384" cy="164592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24144" y="1499616"/>
            <a:ext cx="164592" cy="164592"/>
          </a:xfrm>
          <a:prstGeom prst="oval">
            <a:avLst/>
          </a:prstGeom>
          <a:solidFill>
            <a:srgbClr val="8A6F2A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31536" y="166420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31536" y="1664208"/>
            <a:ext cx="731520" cy="45720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31536" y="171907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31536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17920" y="1371600"/>
            <a:ext cx="786384" cy="164592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47104" y="1499616"/>
            <a:ext cx="164592" cy="164592"/>
          </a:xfrm>
          <a:prstGeom prst="oval">
            <a:avLst/>
          </a:prstGeom>
          <a:solidFill>
            <a:srgbClr val="8A6F2A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54496" y="248716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54496" y="2487168"/>
            <a:ext cx="731520" cy="45720"/>
          </a:xfrm>
          <a:prstGeom prst="rect">
            <a:avLst/>
          </a:prstGeom>
          <a:solidFill>
            <a:srgbClr val="8A6F2A"/>
          </a:solidFill>
          <a:ln w="12700">
            <a:solidFill>
              <a:srgbClr val="8A6F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54496" y="254203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Pulido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54496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40880" y="1371600"/>
            <a:ext cx="786384" cy="164592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70064" y="1499616"/>
            <a:ext cx="164592" cy="164592"/>
          </a:xfrm>
          <a:prstGeom prst="oval">
            <a:avLst/>
          </a:prstGeom>
          <a:solidFill>
            <a:srgbClr val="6B6560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77456" y="166420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077456" y="1664208"/>
            <a:ext cx="731520" cy="45720"/>
          </a:xfrm>
          <a:prstGeom prst="rect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77456" y="171907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77456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S13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863840" y="1371600"/>
            <a:ext cx="786384" cy="164592"/>
          </a:xfrm>
          <a:prstGeom prst="rect">
            <a:avLst/>
          </a:prstGeom>
          <a:solidFill>
            <a:srgbClr val="2C2418"/>
          </a:solidFill>
          <a:ln w="12700">
            <a:solidFill>
              <a:srgbClr val="2C241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93024" y="1499616"/>
            <a:ext cx="164592" cy="164592"/>
          </a:xfrm>
          <a:prstGeom prst="oval">
            <a:avLst/>
          </a:prstGeom>
          <a:solidFill>
            <a:srgbClr val="2C2418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0416" y="2487168"/>
            <a:ext cx="731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900416" y="2487168"/>
            <a:ext cx="731520" cy="45720"/>
          </a:xfrm>
          <a:prstGeom prst="rect">
            <a:avLst/>
          </a:prstGeom>
          <a:solidFill>
            <a:srgbClr val="2C2418"/>
          </a:solidFill>
          <a:ln w="12700">
            <a:solidFill>
              <a:srgbClr val="2C241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00416" y="2542032"/>
            <a:ext cx="73152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Final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900416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entrega: git tag entrega-semana-X &amp;&amp; git push origin entrega-semana-X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del Ciclo DAW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Cobertura transversal de las asignaturas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2C2418"/>
          </a:solidFill>
          <a:ln w="12700">
            <a:solidFill>
              <a:srgbClr val="2C24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54480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Entorno Cliente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554480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· React Native · ethers.js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52360" y="1554480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solidFill>
            <a:srgbClr val="F2EBD9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29968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Entorno Servidor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029968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· Express · JWT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52360" y="2029968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05456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05456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a Datos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505456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ORM · MySQL / PostgreSQL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52360" y="2505456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8229600" cy="475488"/>
          </a:xfrm>
          <a:prstGeom prst="rect">
            <a:avLst/>
          </a:prstGeom>
          <a:solidFill>
            <a:srgbClr val="F2EBD9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80944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2980944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web y móvil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52360" y="2980944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456432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56432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Lenguajes Marcas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456432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 · JSX · Tailwind CSS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3456432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F2EBD9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31920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931920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Despliegue · Docker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52360" y="3931920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07408"/>
            <a:ext cx="8229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DE0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407408"/>
            <a:ext cx="219456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4407408"/>
            <a:ext cx="443484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de todos los módulos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52360" y="4407408"/>
            <a:ext cx="10972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Reparto de Tareas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 inicial entre los dos integrantes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Miembro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Backend (Node.js + Express + BBDD)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Frontend Tienda Web (React)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Blockchain (Solidity + ethers.js)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3931920" cy="64008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Miembro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Panel Empleados (React backoffice)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App Móvil iOS/Android (React Native)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Documentación y memoria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F2EBD9"/>
          </a:solidFill>
          <a:ln w="6350">
            <a:solidFill>
              <a:srgbClr val="EDE0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297680"/>
            <a:ext cx="8229600" cy="54864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52544"/>
            <a:ext cx="7863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Ambos: Integración y pruebas end-to-end (S11–S12)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del Repositorio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github.com/[usuario]/aurea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 · TFG DAW 2024–2025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solidFill>
            <a:srgbClr val="2C2418"/>
          </a:solidFill>
          <a:ln w="6350">
            <a:solidFill>
              <a:srgbClr val="B8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167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aurea/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824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           → Node.js + Express + BBDD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48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frontend-tienda/   → React (tienda pública)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4140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frontend-empleados/→ React (backoffice)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797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mobile-app/        → React Native (iOS + Android)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455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ios/  ├── android/  ├── screens/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112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blockchain/        → AureaCert.sol + Hardhat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8770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→ Descripción del proyecto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2428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docs/              → planificacion.docx + memoria.md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GitHub del tutor: franciscomendezjoyfe  ·  Acceso de lectura obligatorio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046720" cy="10973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722876"/>
            <a:ext cx="8046720" cy="10973"/>
          </a:xfrm>
          <a:prstGeom prst="rect">
            <a:avLst/>
          </a:prstGeom>
          <a:solidFill>
            <a:srgbClr val="B8973A"/>
          </a:solidFill>
          <a:ln w="12700">
            <a:solidFill>
              <a:srgbClr val="B8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400" kern="0" dirty="0">
                <a:solidFill>
                  <a:srgbClr val="D4AF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E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 con autenticidad. Tecnología con elegancia.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56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TFG · DAW · 2024–2025  ·  Miembro 1 &amp; Miembro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Tutor: Francisco Méndez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Aurea — Tienda de Moda con Certificación Blockchain</dc:title>
  <dc:subject>PptxGenJS Presentation</dc:subject>
  <dc:creator>TFG DAW 2024-2025</dc:creator>
  <cp:lastModifiedBy>TFG DAW 2024-2025</cp:lastModifiedBy>
  <cp:revision>1</cp:revision>
  <dcterms:created xsi:type="dcterms:W3CDTF">2026-04-19T11:04:12Z</dcterms:created>
  <dcterms:modified xsi:type="dcterms:W3CDTF">2026-04-19T11:04:12Z</dcterms:modified>
</cp:coreProperties>
</file>